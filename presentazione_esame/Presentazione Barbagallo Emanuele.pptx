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mbria Math" panose="02040503050406030204" pitchFamily="18" charset="0"/>
      <p:regular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Mono" pitchFamily="49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29"/>
    <p:restoredTop sz="94688"/>
  </p:normalViewPr>
  <p:slideViewPr>
    <p:cSldViewPr snapToGrid="0" snapToObjects="1">
      <p:cViewPr varScale="1">
        <p:scale>
          <a:sx n="55" d="100"/>
          <a:sy n="55" d="100"/>
        </p:scale>
        <p:origin x="208" y="16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1974651"/>
            <a:ext cx="762000" cy="3810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437" y="2317551"/>
            <a:ext cx="12049125" cy="12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1" i="0" u="none">
                <a:solidFill>
                  <a:srgbClr val="F8FAFC"/>
                </a:solidFill>
                <a:latin typeface="Roboto"/>
              </a:rPr>
              <a:t>Modellazione e Scoperta Parametrica della Propagazione Epidemica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1544" y="3826073"/>
            <a:ext cx="1128891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94A3B8"/>
                </a:solidFill>
                <a:latin typeface="Roboto"/>
              </a:rPr>
              <a:t>Metodi Numerici Classici vs Physics-Informed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9971" y="4645223"/>
            <a:ext cx="363140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F77B4"/>
                </a:solidFill>
                <a:latin typeface="Roboto"/>
              </a:rPr>
              <a:t>Studente:</a:t>
            </a:r>
            <a:r>
              <a:rPr sz="1650" b="0" i="0" u="none">
                <a:solidFill>
                  <a:srgbClr val="CBD5E1"/>
                </a:solidFill>
                <a:latin typeface="Roboto"/>
              </a:rPr>
              <a:t> Emanuele Barbagallo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12506" y="4645223"/>
            <a:ext cx="592931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F77B4"/>
                </a:solidFill>
                <a:latin typeface="Roboto"/>
              </a:rPr>
              <a:t>Corso:</a:t>
            </a:r>
            <a:r>
              <a:rPr sz="1650" b="0" i="0" u="none">
                <a:solidFill>
                  <a:srgbClr val="CBD5E1"/>
                </a:solidFill>
                <a:latin typeface="Roboto"/>
              </a:rPr>
              <a:t> Numerical Methods for Scientific Computing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71575"/>
            <a:ext cx="57150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05929" y="2016918"/>
            <a:ext cx="4937670" cy="1304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48400" y="2016918"/>
            <a:ext cx="4937670" cy="1304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05929" y="4326731"/>
            <a:ext cx="4937670" cy="15716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48400" y="4460081"/>
            <a:ext cx="4937670" cy="1304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929" y="2016918"/>
            <a:ext cx="57150" cy="1304925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48400" y="2016918"/>
            <a:ext cx="57150" cy="1304925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5929" y="4326731"/>
            <a:ext cx="57150" cy="1571625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48400" y="4460081"/>
            <a:ext cx="57150" cy="1304925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879" y="2340768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350" y="2340768"/>
            <a:ext cx="3048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879" y="4650581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50" y="4783931"/>
            <a:ext cx="2667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Roboto"/>
              </a:rPr>
              <a:t>L'Obiettivo del Progetto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7879" y="2321718"/>
            <a:ext cx="5605583" cy="314325"/>
          </a:xfrm>
          <a:prstGeom prst="rect">
            <a:avLst/>
          </a:prstGeom>
          <a:noFill/>
        </p:spPr>
        <p:txBody>
          <a:bodyPr wrap="none" lIns="3810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Roboto"/>
              </a:rPr>
              <a:t>Contesto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7879" y="2750343"/>
            <a:ext cx="53386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75569"/>
                </a:solidFill>
                <a:latin typeface="Roboto"/>
              </a:rPr>
              <a:t>Prima ondata COVID-19 in Italia.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0350" y="2321718"/>
            <a:ext cx="5581650" cy="314325"/>
          </a:xfrm>
          <a:prstGeom prst="rect">
            <a:avLst/>
          </a:prstGeom>
          <a:noFill/>
        </p:spPr>
        <p:txBody>
          <a:bodyPr wrap="none" lIns="4191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Roboto"/>
              </a:rPr>
              <a:t>Problema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0350" y="2750343"/>
            <a:ext cx="53386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75569"/>
                </a:solidFill>
                <a:latin typeface="Roboto"/>
              </a:rPr>
              <a:t>Comprensione della dinamica spaziale.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7879" y="4631531"/>
            <a:ext cx="5605583" cy="314325"/>
          </a:xfrm>
          <a:prstGeom prst="rect">
            <a:avLst/>
          </a:prstGeom>
          <a:noFill/>
        </p:spPr>
        <p:txBody>
          <a:bodyPr wrap="none" lIns="3810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Roboto"/>
              </a:rPr>
              <a:t>Obiettivo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7879" y="5060156"/>
            <a:ext cx="436617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75569"/>
                </a:solidFill>
                <a:latin typeface="Roboto"/>
              </a:rPr>
              <a:t>Estrazione del Coefficiente di Diffusione (D).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0350" y="4764881"/>
            <a:ext cx="5581650" cy="314325"/>
          </a:xfrm>
          <a:prstGeom prst="rect">
            <a:avLst/>
          </a:prstGeom>
          <a:noFill/>
        </p:spPr>
        <p:txBody>
          <a:bodyPr wrap="none" lIns="3810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Roboto"/>
              </a:rPr>
              <a:t>Approccio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0350" y="5193506"/>
            <a:ext cx="53386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75569"/>
                </a:solidFill>
                <a:latin typeface="Roboto"/>
              </a:rPr>
              <a:t>PDE numeriche vs Deep Learning (PINN).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71575"/>
            <a:ext cx="57150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Roboto"/>
              </a:rPr>
              <a:t>Acquisizione Dati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4014787"/>
            <a:ext cx="109728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511796" y="321468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64682" y="33480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217568" y="33480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70455" y="321468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68921" y="3214687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850" y="4052887"/>
            <a:ext cx="301749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0F172A"/>
                </a:solidFill>
                <a:latin typeface="Roboto"/>
              </a:rPr>
              <a:t>Estrazione automatizzata GitHub ufficiale.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1807" y="3348037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Robot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2354" y="4052887"/>
            <a:ext cx="301749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 err="1">
                <a:solidFill>
                  <a:srgbClr val="0F172A"/>
                </a:solidFill>
                <a:latin typeface="Roboto"/>
              </a:rPr>
              <a:t>Filtraggio</a:t>
            </a:r>
            <a:r>
              <a:rPr sz="1800" b="0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1800" b="0" i="0" u="none" dirty="0" err="1">
                <a:solidFill>
                  <a:srgbClr val="0F172A"/>
                </a:solidFill>
                <a:latin typeface="Roboto"/>
              </a:rPr>
              <a:t>temporale</a:t>
            </a:r>
            <a:r>
              <a:rPr sz="1800" b="0" i="0" u="none" dirty="0">
                <a:solidFill>
                  <a:srgbClr val="0F172A"/>
                </a:solidFill>
                <a:latin typeface="Roboto"/>
              </a:rPr>
              <a:t> (Feb-Mag 2020).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4693" y="3348037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3623" y="4052887"/>
            <a:ext cx="301749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 err="1">
                <a:solidFill>
                  <a:srgbClr val="0F172A"/>
                </a:solidFill>
                <a:latin typeface="Roboto"/>
              </a:rPr>
              <a:t>Associazione</a:t>
            </a:r>
            <a:r>
              <a:rPr sz="1800" b="0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1800" b="0" i="0" u="none" dirty="0" err="1">
                <a:solidFill>
                  <a:srgbClr val="0F172A"/>
                </a:solidFill>
                <a:latin typeface="Roboto"/>
              </a:rPr>
              <a:t>contagi</a:t>
            </a:r>
            <a:r>
              <a:rPr sz="1800" b="0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1800" b="0" i="0" u="none" dirty="0" err="1">
                <a:solidFill>
                  <a:srgbClr val="0F172A"/>
                </a:solidFill>
                <a:latin typeface="Roboto"/>
              </a:rPr>
              <a:t>geospaziali</a:t>
            </a:r>
            <a:r>
              <a:rPr sz="1800" b="0" i="0" u="none" dirty="0">
                <a:solidFill>
                  <a:srgbClr val="0F172A"/>
                </a:solidFill>
                <a:latin typeface="Roboto"/>
              </a:rPr>
              <a:t> (Lat, Lon).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7580" y="3214687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Robot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6509" y="4052887"/>
            <a:ext cx="301749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0F172A"/>
                </a:solidFill>
                <a:latin typeface="Roboto"/>
              </a:rPr>
              <a:t>Mappatura griglia normalizzata [0,1]x[0,1].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0" y="1945034"/>
            <a:ext cx="571500" cy="3810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253" y="2592734"/>
            <a:ext cx="5093493" cy="21392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853" y="3049934"/>
            <a:ext cx="3874293" cy="12248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5203477"/>
            <a:ext cx="219075" cy="257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5203477"/>
            <a:ext cx="219075" cy="257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45681" y="1383059"/>
            <a:ext cx="5100637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Roboto"/>
              </a:rPr>
              <a:t>Il Modello Matematico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5189190"/>
            <a:ext cx="5438775" cy="2857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50" b="1" i="0" u="none">
                <a:solidFill>
                  <a:srgbClr val="0F172A"/>
                </a:solidFill>
                <a:latin typeface="Roboto"/>
              </a:rPr>
              <a:t>D</a:t>
            </a:r>
            <a:r>
              <a:rPr sz="1950" b="0" i="0" u="none">
                <a:solidFill>
                  <a:srgbClr val="0F172A"/>
                </a:solidFill>
                <a:latin typeface="Roboto"/>
              </a:rPr>
              <a:t>: Incognita macroscopica del sistema.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4550" y="5189190"/>
            <a:ext cx="5819775" cy="2857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50" b="1" i="0" u="none">
                <a:solidFill>
                  <a:srgbClr val="0F172A"/>
                </a:solidFill>
                <a:latin typeface="Roboto"/>
              </a:rPr>
              <a:t>Definizione</a:t>
            </a:r>
            <a:r>
              <a:rPr sz="1950" b="0" i="0" u="none">
                <a:solidFill>
                  <a:srgbClr val="0F172A"/>
                </a:solidFill>
                <a:latin typeface="Roboto"/>
              </a:rPr>
              <a:t>: Inverse Problem Matematico.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71575"/>
            <a:ext cx="57150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671637"/>
            <a:ext cx="10972800" cy="13716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71837"/>
            <a:ext cx="10972800" cy="13716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872037"/>
            <a:ext cx="10972800" cy="13716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76437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76637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76837"/>
            <a:ext cx="762000" cy="76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712" y="2166937"/>
            <a:ext cx="333375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712" y="3767137"/>
            <a:ext cx="333375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087" y="5367337"/>
            <a:ext cx="428625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Roboto"/>
              </a:rPr>
              <a:t>Percorso Numerico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1200" y="2200275"/>
            <a:ext cx="6988968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284C7"/>
                </a:solidFill>
                <a:latin typeface="Roboto"/>
              </a:rPr>
              <a:t>Metodo:</a:t>
            </a:r>
            <a:r>
              <a:rPr sz="2100" b="0" i="0" u="none">
                <a:solidFill>
                  <a:srgbClr val="0F172A"/>
                </a:solidFill>
                <a:latin typeface="Roboto"/>
              </a:rPr>
              <a:t> Differenze Finite su griglia strutturata.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1200" y="3800475"/>
            <a:ext cx="9739312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A580C"/>
                </a:solidFill>
                <a:latin typeface="Roboto"/>
              </a:rPr>
              <a:t>Sistema:</a:t>
            </a:r>
            <a:r>
              <a:rPr sz="2100" b="0" i="0" u="none">
                <a:solidFill>
                  <a:srgbClr val="0F172A"/>
                </a:solidFill>
                <a:latin typeface="Roboto"/>
              </a:rPr>
              <a:t> PDE tradotta in grande Sistema Lineare Sparso (Au = b).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1200" y="5400675"/>
            <a:ext cx="9608343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284C7"/>
                </a:solidFill>
                <a:latin typeface="Roboto"/>
              </a:rPr>
              <a:t>Memoria:</a:t>
            </a:r>
            <a:r>
              <a:rPr sz="2100" b="0" i="0" u="none">
                <a:solidFill>
                  <a:srgbClr val="0F172A"/>
                </a:solidFill>
                <a:latin typeface="Roboto"/>
              </a:rPr>
              <a:t> Archiviazione CSR contro la "Curse of Dimensionality".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71575"/>
            <a:ext cx="571500" cy="3810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286000"/>
            <a:ext cx="5295900" cy="396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86500" y="2286000"/>
            <a:ext cx="5295900" cy="396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286000"/>
            <a:ext cx="5295900" cy="762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86500" y="2286000"/>
            <a:ext cx="5295900" cy="7620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Roboto"/>
              </a:rPr>
              <a:t>Forward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514475"/>
            <a:ext cx="115824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475569"/>
                </a:solidFill>
                <a:latin typeface="Roboto"/>
              </a:rPr>
              <a:t>Risoluzione iterativa tramite </a:t>
            </a:r>
            <a:r>
              <a:rPr sz="2100" b="0" i="0" u="none">
                <a:solidFill>
                  <a:srgbClr val="0F172A"/>
                </a:solidFill>
                <a:latin typeface="Roboto"/>
              </a:rPr>
              <a:t>sottospazi di Krylov</a:t>
            </a:r>
            <a:r>
              <a:rPr sz="2100" b="0" i="0" u="none">
                <a:solidFill>
                  <a:srgbClr val="475569"/>
                </a:solidFill>
                <a:latin typeface="Roboto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819400"/>
            <a:ext cx="5950743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Roboto"/>
              </a:rPr>
              <a:t>Gradiente Coniugato (CG)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448050"/>
            <a:ext cx="4629150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1950" b="0" i="0" u="none">
                <a:solidFill>
                  <a:srgbClr val="334155"/>
                </a:solidFill>
                <a:latin typeface="Roboto"/>
              </a:rPr>
              <a:t>Ottimale esclusivamente per matrici simmetriche definite positive.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0" y="2819400"/>
            <a:ext cx="55245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Roboto"/>
              </a:rPr>
              <a:t>GMRES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3448050"/>
            <a:ext cx="4629150" cy="10398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1950" b="0" i="0" u="none">
                <a:solidFill>
                  <a:srgbClr val="334155"/>
                </a:solidFill>
                <a:latin typeface="Roboto"/>
              </a:rPr>
              <a:t>Implementato per massima resilienza contro futuri termini convettivi asimmetrici.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71575"/>
            <a:ext cx="57150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0" y="2667000"/>
            <a:ext cx="51816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3524250"/>
            <a:ext cx="51816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0" y="4381500"/>
            <a:ext cx="5181600" cy="866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0" y="2667000"/>
            <a:ext cx="38100" cy="62865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3524250"/>
            <a:ext cx="38100" cy="62865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0" y="4583112"/>
            <a:ext cx="38100" cy="866775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Roboto"/>
              </a:rPr>
              <a:t>Inverse Problem (Data Fitting)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8100" y="2981325"/>
            <a:ext cx="6477000" cy="1066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sz="8400" b="1" i="0" u="none">
                <a:solidFill>
                  <a:srgbClr val="1F77B4"/>
                </a:solidFill>
                <a:latin typeface="Roboto Mono"/>
              </a:rPr>
              <a:t>0.3500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38100" y="4200525"/>
            <a:ext cx="64770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Roboto"/>
              </a:rPr>
              <a:t>Coefficiente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38100" y="4667250"/>
            <a:ext cx="64770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EA580C"/>
                </a:solidFill>
                <a:latin typeface="Roboto"/>
              </a:rPr>
              <a:t>Convergenza in soli 0.05 secondi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0" y="2667000"/>
            <a:ext cx="55245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Roboto"/>
              </a:rPr>
              <a:t>Minimizzazione Distanza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0" y="3057525"/>
            <a:ext cx="5524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Roboto"/>
              </a:rPr>
              <a:t>Tra previsione teorica e dati empirici reali.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0" y="3524250"/>
            <a:ext cx="55245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Roboto"/>
              </a:rPr>
              <a:t>Minimi Quadrati Non Lineari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6667500" y="3914775"/>
                <a:ext cx="4259179" cy="76174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650" b="0" i="0" u="none" dirty="0" err="1">
                    <a:solidFill>
                      <a:srgbClr val="475569"/>
                    </a:solidFill>
                    <a:latin typeface="Roboto"/>
                  </a:rPr>
                  <a:t>Ottimizzazione</a:t>
                </a:r>
                <a:r>
                  <a:rPr sz="1650" b="0" i="0" u="none" dirty="0">
                    <a:solidFill>
                      <a:srgbClr val="475569"/>
                    </a:solidFill>
                    <a:latin typeface="Roboto"/>
                  </a:rPr>
                  <a:t> </a:t>
                </a:r>
                <a:r>
                  <a:rPr sz="1650" b="0" i="0" u="none" dirty="0" err="1">
                    <a:solidFill>
                      <a:srgbClr val="475569"/>
                    </a:solidFill>
                    <a:latin typeface="Roboto"/>
                  </a:rPr>
                  <a:t>tramite</a:t>
                </a:r>
                <a:r>
                  <a:rPr sz="1650" b="0" i="0" u="none" dirty="0">
                    <a:solidFill>
                      <a:srgbClr val="475569"/>
                    </a:solidFill>
                    <a:latin typeface="Roboto"/>
                  </a:rPr>
                  <a:t> Levenberg-Marquardt.</a:t>
                </a:r>
                <a:endParaRPr lang="it-IT" sz="1650" b="0" i="0" u="none" dirty="0">
                  <a:solidFill>
                    <a:srgbClr val="475569"/>
                  </a:solidFill>
                  <a:latin typeface="Roboto"/>
                </a:endParaRP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it-IT" sz="165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it-IT" sz="1650" i="1">
                                  <a:solidFill>
                                    <a:srgbClr val="47556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1650" i="1">
                                  <a:solidFill>
                                    <a:srgbClr val="475569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it-IT" sz="1650" i="1">
                                  <a:solidFill>
                                    <a:srgbClr val="475569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it-IT" sz="165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it-IT" sz="165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65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it-IT" sz="165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it-IT" sz="1650" i="1">
                          <a:solidFill>
                            <a:srgbClr val="475569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it-IT" sz="1650" i="1">
                          <a:solidFill>
                            <a:srgbClr val="47556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165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65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it-IT" sz="165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it-IT" sz="1650" i="1">
                          <a:solidFill>
                            <a:srgbClr val="475569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it-IT" sz="1650" i="0" dirty="0">
                  <a:solidFill>
                    <a:srgbClr val="475569"/>
                  </a:solidFill>
                  <a:latin typeface="Roboto"/>
                </a:endParaRPr>
              </a:p>
              <a:p>
                <a:endParaRPr sz="1650" b="0" i="0" u="none" dirty="0">
                  <a:solidFill>
                    <a:srgbClr val="475569"/>
                  </a:solidFill>
                  <a:latin typeface="Roboto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0" y="3914775"/>
                <a:ext cx="4259179" cy="761747"/>
              </a:xfrm>
              <a:prstGeom prst="rect">
                <a:avLst/>
              </a:prstGeom>
              <a:blipFill>
                <a:blip r:embed="rId2"/>
                <a:stretch>
                  <a:fillRect l="-3274" t="-9836" r="-208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6667500" y="4557713"/>
            <a:ext cx="55245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 dirty="0" err="1">
                <a:solidFill>
                  <a:srgbClr val="0F172A"/>
                </a:solidFill>
                <a:latin typeface="Roboto"/>
              </a:rPr>
              <a:t>Integrazione</a:t>
            </a:r>
            <a:r>
              <a:rPr sz="2100" b="0" i="0" u="none" dirty="0">
                <a:solidFill>
                  <a:srgbClr val="0F172A"/>
                </a:solidFill>
                <a:latin typeface="Roboto"/>
              </a:rPr>
              <a:t> Forward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0" y="4973637"/>
            <a:ext cx="50101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475569"/>
                </a:solidFill>
                <a:latin typeface="Roboto"/>
              </a:rPr>
              <a:t>Il GMRES </a:t>
            </a:r>
            <a:r>
              <a:rPr sz="1650" b="0" i="0" u="none" dirty="0" err="1">
                <a:solidFill>
                  <a:srgbClr val="475569"/>
                </a:solidFill>
                <a:latin typeface="Roboto"/>
              </a:rPr>
              <a:t>viene</a:t>
            </a:r>
            <a:r>
              <a:rPr sz="1650" b="0" i="0" u="none" dirty="0">
                <a:solidFill>
                  <a:srgbClr val="475569"/>
                </a:solidFill>
                <a:latin typeface="Roboto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Roboto"/>
              </a:rPr>
              <a:t>inglobato</a:t>
            </a:r>
            <a:r>
              <a:rPr sz="1650" b="0" i="0" u="none" dirty="0">
                <a:solidFill>
                  <a:srgbClr val="475569"/>
                </a:solidFill>
                <a:latin typeface="Roboto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Roboto"/>
              </a:rPr>
              <a:t>direttamente</a:t>
            </a:r>
            <a:r>
              <a:rPr sz="1650" b="0" i="0" u="none" dirty="0">
                <a:solidFill>
                  <a:srgbClr val="475569"/>
                </a:solidFill>
                <a:latin typeface="Roboto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Roboto"/>
              </a:rPr>
              <a:t>nell'ottimizzatore</a:t>
            </a:r>
            <a:r>
              <a:rPr sz="1650" b="0" i="0" u="none" dirty="0">
                <a:solidFill>
                  <a:srgbClr val="475569"/>
                </a:solidFill>
                <a:latin typeface="Roboto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71575"/>
            <a:ext cx="571500" cy="3810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5929" y="1697831"/>
            <a:ext cx="4937670" cy="20764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1926431"/>
            <a:ext cx="4937670" cy="161925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929" y="4140993"/>
            <a:ext cx="4937670" cy="20764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8400" y="4140993"/>
            <a:ext cx="4937670" cy="20764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940" y="2078831"/>
            <a:ext cx="5715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940" y="4521993"/>
            <a:ext cx="5715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710" y="4521993"/>
            <a:ext cx="3429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Roboto"/>
              </a:rPr>
              <a:t>Il Percorso 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5906" y="2764631"/>
            <a:ext cx="4257576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0F172A"/>
                </a:solidFill>
                <a:latin typeface="Roboto"/>
              </a:rPr>
              <a:t>Physics-Informed</a:t>
            </a:r>
            <a:r>
              <a:rPr lang="it-IT" sz="2100" b="1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lang="it-IT" sz="2100" b="1" i="0" u="none" dirty="0" err="1">
                <a:solidFill>
                  <a:srgbClr val="0F172A"/>
                </a:solidFill>
                <a:latin typeface="Roboto"/>
              </a:rPr>
              <a:t>Neural</a:t>
            </a:r>
            <a:r>
              <a:rPr lang="it-IT" sz="2100" b="1" i="0" u="none" dirty="0">
                <a:solidFill>
                  <a:srgbClr val="0F172A"/>
                </a:solidFill>
                <a:latin typeface="Roboto"/>
              </a:rPr>
              <a:t> Networks</a:t>
            </a:r>
            <a:endParaRPr sz="2100" b="1" i="0" u="none" dirty="0">
              <a:solidFill>
                <a:srgbClr val="0F172A"/>
              </a:solidFill>
              <a:latin typeface="Robo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93502" y="3155156"/>
            <a:ext cx="3762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475569"/>
                </a:solidFill>
                <a:latin typeface="Roboto"/>
              </a:rPr>
              <a:t>Reti neurali vincolate dalla fisica.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9306" y="2536031"/>
            <a:ext cx="2835713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 dirty="0" err="1">
                <a:solidFill>
                  <a:srgbClr val="0F172A"/>
                </a:solidFill>
                <a:latin typeface="Roboto"/>
              </a:rPr>
              <a:t>Equazione</a:t>
            </a:r>
            <a:r>
              <a:rPr sz="2100" b="1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lang="it-IT" sz="2100" b="1" i="0" u="none" dirty="0">
                <a:solidFill>
                  <a:srgbClr val="0F172A"/>
                </a:solidFill>
                <a:latin typeface="Roboto"/>
              </a:rPr>
              <a:t>di diffusione</a:t>
            </a:r>
            <a:endParaRPr sz="2100" b="1" i="0" u="none" dirty="0">
              <a:solidFill>
                <a:srgbClr val="0F172A"/>
              </a:solidFill>
              <a:latin typeface="Robot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45473" y="2926556"/>
            <a:ext cx="4143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475569"/>
                </a:solidFill>
                <a:latin typeface="Roboto"/>
              </a:rPr>
              <a:t>La PDE agisce come Loss Function.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7549" y="5207793"/>
            <a:ext cx="3774281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Roboto"/>
              </a:rPr>
              <a:t>Ottimizzazione Bilanciata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846" y="5598318"/>
            <a:ext cx="43576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475569"/>
                </a:solidFill>
                <a:latin typeface="Roboto"/>
              </a:rPr>
              <a:t>Sinergia tra Data Loss e Physics Loss.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2223" y="5207793"/>
            <a:ext cx="280987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Roboto"/>
              </a:rPr>
              <a:t>Derivate Analitiche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4770" y="5598318"/>
            <a:ext cx="39647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475569"/>
                </a:solidFill>
                <a:latin typeface="Roboto"/>
              </a:rPr>
              <a:t>Calcolo spaziale tramite Autograd.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117675"/>
            <a:ext cx="57150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272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378696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723358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1555700"/>
            <a:ext cx="64008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Roboto"/>
              </a:rPr>
              <a:t>Architettura Mesh-Free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2612975"/>
            <a:ext cx="4976812" cy="346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1950" b="0" i="0" u="none">
                <a:solidFill>
                  <a:srgbClr val="0F172A"/>
                </a:solidFill>
                <a:latin typeface="Roboto"/>
              </a:rPr>
              <a:t>Nessuna griglia strutturata richiesta.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264396"/>
            <a:ext cx="4629150" cy="10398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1950" b="0" i="0" u="none">
                <a:solidFill>
                  <a:srgbClr val="0F172A"/>
                </a:solidFill>
                <a:latin typeface="Roboto"/>
              </a:rPr>
              <a:t>Apprendimento da coordinate stocastiche continue (Collocation Points).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609058"/>
            <a:ext cx="4629150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1950" b="0" i="0" u="none" dirty="0">
                <a:solidFill>
                  <a:srgbClr val="0F172A"/>
                </a:solidFill>
                <a:latin typeface="Roboto"/>
              </a:rPr>
              <a:t>Massima </a:t>
            </a:r>
            <a:r>
              <a:rPr sz="1950" b="0" i="0" u="none" dirty="0" err="1">
                <a:solidFill>
                  <a:srgbClr val="0F172A"/>
                </a:solidFill>
                <a:latin typeface="Roboto"/>
              </a:rPr>
              <a:t>resilienza</a:t>
            </a:r>
            <a:r>
              <a:rPr sz="1950" b="0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1950" b="0" i="0" u="none" dirty="0" err="1">
                <a:solidFill>
                  <a:srgbClr val="0F172A"/>
                </a:solidFill>
                <a:latin typeface="Roboto"/>
              </a:rPr>
              <a:t>contro</a:t>
            </a:r>
            <a:r>
              <a:rPr sz="1950" b="0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1950" b="0" i="0" u="none" dirty="0" err="1">
                <a:solidFill>
                  <a:srgbClr val="0F172A"/>
                </a:solidFill>
                <a:latin typeface="Roboto"/>
              </a:rPr>
              <a:t>i</a:t>
            </a:r>
            <a:r>
              <a:rPr sz="1950" b="0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1950" b="0" i="0" u="none" dirty="0" err="1">
                <a:solidFill>
                  <a:srgbClr val="0F172A"/>
                </a:solidFill>
                <a:latin typeface="Roboto"/>
              </a:rPr>
              <a:t>dati</a:t>
            </a:r>
            <a:r>
              <a:rPr sz="1950" b="0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1950" b="0" i="0" u="none" dirty="0" err="1">
                <a:solidFill>
                  <a:srgbClr val="0F172A"/>
                </a:solidFill>
                <a:latin typeface="Roboto"/>
              </a:rPr>
              <a:t>geografici</a:t>
            </a:r>
            <a:r>
              <a:rPr sz="1950" b="0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1950" b="0" i="0" u="none" dirty="0" err="1">
                <a:solidFill>
                  <a:srgbClr val="0F172A"/>
                </a:solidFill>
                <a:latin typeface="Roboto"/>
              </a:rPr>
              <a:t>frammentati</a:t>
            </a:r>
            <a:r>
              <a:rPr sz="1950" b="0" i="0" u="none" dirty="0">
                <a:solidFill>
                  <a:srgbClr val="0F172A"/>
                </a:solidFill>
                <a:latin typeface="Roboto"/>
              </a:rPr>
              <a:t>.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B5455F7-F432-BA2C-110B-9685EAC12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488" y="591143"/>
            <a:ext cx="5024912" cy="53465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557337"/>
            <a:ext cx="571500" cy="3810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052637"/>
            <a:ext cx="4876800" cy="1038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3319462"/>
            <a:ext cx="4876800" cy="1038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586287"/>
            <a:ext cx="4876800" cy="127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052637"/>
            <a:ext cx="38100" cy="1038225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319462"/>
            <a:ext cx="38100" cy="1038225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586287"/>
            <a:ext cx="38100" cy="12763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995362"/>
            <a:ext cx="4720844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it-IT" sz="3000" b="1" i="0" u="none" dirty="0" err="1">
                <a:solidFill>
                  <a:srgbClr val="0F172A"/>
                </a:solidFill>
                <a:latin typeface="Roboto"/>
              </a:rPr>
              <a:t>Gradient</a:t>
            </a:r>
            <a:r>
              <a:rPr lang="it-IT" sz="3000" b="1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3000" b="1" i="0" u="none" dirty="0">
                <a:solidFill>
                  <a:srgbClr val="0F172A"/>
                </a:solidFill>
                <a:latin typeface="Roboto"/>
              </a:rPr>
              <a:t>Pathology e Stallo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281237"/>
            <a:ext cx="54768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Roboto"/>
              </a:rPr>
              <a:t>Scontro di Gradienti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624137"/>
            <a:ext cx="54768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Roboto"/>
              </a:rPr>
              <a:t>Conflitto tra derivate dei Dati e della Fisica.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548062"/>
            <a:ext cx="54768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Roboto"/>
              </a:rPr>
              <a:t>Stallo di Adam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890962"/>
            <a:ext cx="54768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Roboto"/>
              </a:rPr>
              <a:t>Ottimizzatore bloccato in minimo locale.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814887"/>
            <a:ext cx="54768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Roboto"/>
              </a:rPr>
              <a:t>Soluzione L-BFGS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5157787"/>
            <a:ext cx="4476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Roboto"/>
              </a:rPr>
              <a:t>Calcolo dell'Hessiana per convergenza globale vera (D=0.3500).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7505A0FB-3DC9-76B5-A4BF-76C416E13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289" y="1496260"/>
            <a:ext cx="6015160" cy="3865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695450"/>
            <a:ext cx="57150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09800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14725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819650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133475"/>
            <a:ext cx="64008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Roboto"/>
              </a:rPr>
              <a:t>Risultati Finali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190750"/>
            <a:ext cx="6400800" cy="314325"/>
          </a:xfrm>
          <a:prstGeom prst="rect">
            <a:avLst/>
          </a:prstGeom>
          <a:noFill/>
        </p:spPr>
        <p:txBody>
          <a:bodyPr wrap="none" lIns="3810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F77B4"/>
                </a:solidFill>
                <a:latin typeface="Roboto"/>
              </a:rPr>
              <a:t>Accuratezza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581275"/>
            <a:ext cx="49720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 err="1">
                <a:solidFill>
                  <a:srgbClr val="0F172A"/>
                </a:solidFill>
                <a:latin typeface="Roboto"/>
              </a:rPr>
              <a:t>Pareggio</a:t>
            </a:r>
            <a:r>
              <a:rPr sz="1800" b="0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1800" b="0" i="0" u="none" dirty="0" err="1">
                <a:solidFill>
                  <a:srgbClr val="0F172A"/>
                </a:solidFill>
                <a:latin typeface="Roboto"/>
              </a:rPr>
              <a:t>tecnico</a:t>
            </a:r>
            <a:r>
              <a:rPr sz="1800" b="0" i="0" u="none" dirty="0">
                <a:solidFill>
                  <a:srgbClr val="0F172A"/>
                </a:solidFill>
                <a:latin typeface="Roboto"/>
              </a:rPr>
              <a:t>. </a:t>
            </a:r>
            <a:r>
              <a:rPr sz="1800" b="0" i="0" u="none" dirty="0" err="1">
                <a:solidFill>
                  <a:srgbClr val="0F172A"/>
                </a:solidFill>
                <a:latin typeface="Roboto"/>
              </a:rPr>
              <a:t>Entrambi</a:t>
            </a:r>
            <a:endParaRPr lang="it-IT" dirty="0">
              <a:solidFill>
                <a:srgbClr val="0F172A"/>
              </a:solidFill>
              <a:latin typeface="Roboto"/>
            </a:endParaRPr>
          </a:p>
          <a:p>
            <a:pPr algn="l"/>
            <a:r>
              <a:rPr sz="1800" b="0" i="0" u="none" dirty="0" err="1">
                <a:solidFill>
                  <a:srgbClr val="0F172A"/>
                </a:solidFill>
                <a:latin typeface="Roboto"/>
              </a:rPr>
              <a:t>estraggono</a:t>
            </a:r>
            <a:r>
              <a:rPr sz="1800" b="0" i="0" u="none" dirty="0">
                <a:solidFill>
                  <a:srgbClr val="0F172A"/>
                </a:solidFill>
                <a:latin typeface="Roboto"/>
              </a:rPr>
              <a:t> D=0.3500.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495675"/>
            <a:ext cx="6400800" cy="314325"/>
          </a:xfrm>
          <a:prstGeom prst="rect">
            <a:avLst/>
          </a:prstGeom>
          <a:noFill/>
        </p:spPr>
        <p:txBody>
          <a:bodyPr wrap="none" lIns="352425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Roboto"/>
              </a:rPr>
              <a:t>Tempi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886200"/>
            <a:ext cx="49720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Roboto"/>
              </a:rPr>
              <a:t>Matrici sparse annientano il Deep Learning (0.05s vs minuti).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800600"/>
            <a:ext cx="6400800" cy="314325"/>
          </a:xfrm>
          <a:prstGeom prst="rect">
            <a:avLst/>
          </a:prstGeom>
          <a:noFill/>
        </p:spPr>
        <p:txBody>
          <a:bodyPr wrap="none" lIns="3810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F77B4"/>
                </a:solidFill>
                <a:latin typeface="Roboto"/>
              </a:rPr>
              <a:t>Costo Computazionale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191125"/>
            <a:ext cx="49720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Roboto"/>
              </a:rPr>
              <a:t>PINN: training estremo, inferenza istantanea O(1).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3ED4358E-6AC2-E17C-8F33-F12C77306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4855" y="485909"/>
            <a:ext cx="7772400" cy="30097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0" y="2024062"/>
            <a:ext cx="571500" cy="3810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09750" y="2671762"/>
            <a:ext cx="85725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9750" y="3605212"/>
            <a:ext cx="85725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09750" y="4767262"/>
            <a:ext cx="85725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09750" y="2671762"/>
            <a:ext cx="38100" cy="62865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09750" y="3605212"/>
            <a:ext cx="38100" cy="62865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09750" y="4767262"/>
            <a:ext cx="38100" cy="6286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77291" y="1462087"/>
            <a:ext cx="2037417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 dirty="0" err="1">
                <a:solidFill>
                  <a:srgbClr val="F8FAFC"/>
                </a:solidFill>
                <a:latin typeface="Roboto"/>
              </a:rPr>
              <a:t>Conclusioni</a:t>
            </a:r>
            <a:endParaRPr sz="3000" b="1" i="0" u="none" dirty="0">
              <a:solidFill>
                <a:srgbClr val="F8FAFC"/>
              </a:solidFill>
              <a:latin typeface="Robo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52650" y="2671762"/>
            <a:ext cx="8324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F77B4"/>
                </a:solidFill>
                <a:latin typeface="Roboto"/>
              </a:rPr>
              <a:t>Metodi Numerici:</a:t>
            </a:r>
            <a:r>
              <a:rPr sz="2100" b="0" i="0" u="none">
                <a:solidFill>
                  <a:srgbClr val="F8FAFC"/>
                </a:solidFill>
                <a:latin typeface="Roboto"/>
              </a:rPr>
              <a:t> Superiorità in presenza di griglie uniformi e geometrie classiche.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2650" y="3605212"/>
            <a:ext cx="8324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7F0E"/>
                </a:solidFill>
                <a:latin typeface="Roboto"/>
              </a:rPr>
              <a:t>Metodi PINN:</a:t>
            </a:r>
            <a:r>
              <a:rPr sz="2100" b="0" i="0" u="none">
                <a:solidFill>
                  <a:srgbClr val="F8FAFC"/>
                </a:solidFill>
                <a:latin typeface="Roboto"/>
              </a:rPr>
              <a:t> Superiorità con dati scarsi, geometrie complesse e alte dimensioni.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2650" y="4767262"/>
            <a:ext cx="8324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2E8F0"/>
                </a:solidFill>
                <a:latin typeface="Roboto"/>
              </a:rPr>
              <a:t>Sintesi:</a:t>
            </a:r>
            <a:r>
              <a:rPr sz="2100" b="0" i="0" u="none">
                <a:solidFill>
                  <a:srgbClr val="CBD5E1"/>
                </a:solidFill>
                <a:latin typeface="Roboto"/>
              </a:rPr>
              <a:t> Entrambi gli algoritmi validano indipendentemente il medesimo risultato fisico.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403</Words>
  <Application>Microsoft Macintosh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8" baseType="lpstr">
      <vt:lpstr>Arial</vt:lpstr>
      <vt:lpstr>Roboto</vt:lpstr>
      <vt:lpstr>Calibri</vt:lpstr>
      <vt:lpstr>Cambria Math</vt:lpstr>
      <vt:lpstr>Roboto Mono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EMANUELE BARBAGALLO</cp:lastModifiedBy>
  <cp:revision>8</cp:revision>
  <dcterms:created xsi:type="dcterms:W3CDTF">2013-01-27T09:14:16Z</dcterms:created>
  <dcterms:modified xsi:type="dcterms:W3CDTF">2026-09-28T20:56:15Z</dcterms:modified>
  <cp:category/>
</cp:coreProperties>
</file>